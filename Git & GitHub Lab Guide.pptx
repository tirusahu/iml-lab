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278707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Control with Git &amp; GitHub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47885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4th Semester: Practical Lab Guide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477047"/>
            <a:ext cx="11049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Tirupati</a:t>
            </a:r>
            <a:r>
              <a:rPr lang="en-US" sz="1800" dirty="0" smtClean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 smtClean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Sahu</a:t>
            </a:r>
            <a:r>
              <a:rPr lang="en-US" sz="1800" b="0" i="0" u="none" strike="noStrike" cap="none" dirty="0" smtClean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Department of CSE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4115"/>
            <a:ext cx="5286375" cy="3260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78089"/>
            <a:ext cx="5286375" cy="317672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08155" y="2062612"/>
            <a:ext cx="493061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36147" y="2782625"/>
            <a:ext cx="469582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version control, we rely on file renaming like "final_v1.py", "final_v2_fixed.py". This leads to confusion, data loss, and inability to collaborate effectively.</a:t>
            </a:r>
            <a:endParaRPr sz="2400"/>
          </a:p>
        </p:txBody>
      </p:sp>
      <p:sp>
        <p:nvSpPr>
          <p:cNvPr id="97" name="Google Shape;97;p14"/>
          <p:cNvSpPr txBox="1"/>
          <p:nvPr/>
        </p:nvSpPr>
        <p:spPr>
          <a:xfrm>
            <a:off x="6470780" y="2062612"/>
            <a:ext cx="493061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Solution (Git)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498772" y="2782625"/>
            <a:ext cx="469582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tracks every change made to files. It allows us to revert to previous versions, work on new features without breaking the main code, and collaborate with teams.</a:t>
            </a:r>
            <a:endParaRPr sz="2400"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Version Control?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14500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726163"/>
            <a:ext cx="5124450" cy="4170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12406" y="2734250"/>
            <a:ext cx="76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75219" y="1532507"/>
            <a:ext cx="4953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Directory: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 you edit files.</a:t>
            </a:r>
            <a:endParaRPr sz="2400"/>
          </a:p>
        </p:txBody>
      </p:sp>
      <p:sp>
        <p:nvSpPr>
          <p:cNvPr id="110" name="Google Shape;110;p15"/>
          <p:cNvSpPr txBox="1"/>
          <p:nvPr/>
        </p:nvSpPr>
        <p:spPr>
          <a:xfrm>
            <a:off x="521737" y="1742503"/>
            <a:ext cx="76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12542" y="2537510"/>
            <a:ext cx="49530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Staging Area: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 you prepare files for the next commit (like a shopping cart).</a:t>
            </a:r>
            <a:endParaRPr sz="2400"/>
          </a:p>
        </p:txBody>
      </p:sp>
      <p:sp>
        <p:nvSpPr>
          <p:cNvPr id="112" name="Google Shape;112;p15"/>
          <p:cNvSpPr txBox="1"/>
          <p:nvPr/>
        </p:nvSpPr>
        <p:spPr>
          <a:xfrm>
            <a:off x="521737" y="4215152"/>
            <a:ext cx="76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9863" y="4123751"/>
            <a:ext cx="4953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Repository: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 </a:t>
            </a:r>
            <a:r>
              <a:rPr lang="en-US" sz="24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permanently stores the changes (the receipt).</a:t>
            </a:r>
            <a:endParaRPr sz="2400"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Architecture: The 3 Stages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295275" y="2183159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Use Case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52839" y="3314685"/>
            <a:ext cx="11049000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will build a simple "Student Calculator" application to demonstrate the </a:t>
            </a:r>
            <a:r>
              <a:rPr lang="en-US" sz="2800" b="0" i="0" u="none" strike="noStrike" cap="none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</a:t>
            </a:r>
            <a:r>
              <a:rPr lang="en-US" sz="2800" b="0" i="0" u="none" strike="noStrike" cap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workflow.</a:t>
            </a:r>
            <a:endParaRPr sz="28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3226"/>
            <a:ext cx="3492549" cy="3708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03226"/>
            <a:ext cx="3492549" cy="3708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03226"/>
            <a:ext cx="3492549" cy="3708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3387" y="233660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784223" y="2908101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Install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857250" y="3441501"/>
            <a:ext cx="2921049" cy="60573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1000125" y="3584376"/>
            <a:ext cx="263529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git --version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857250" y="3441501"/>
            <a:ext cx="47625" cy="60573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857250" y="4275832"/>
            <a:ext cx="292104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if Git is installed.</a:t>
            </a:r>
            <a:endParaRPr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9312" y="2336601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4562523" y="2908101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Username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35549" y="3441501"/>
            <a:ext cx="2921049" cy="124569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778424" y="3584376"/>
            <a:ext cx="2635299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git config --global user.name "Your Name"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4635549" y="3441501"/>
            <a:ext cx="47625" cy="1245691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4635549" y="4915792"/>
            <a:ext cx="292104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Identifies your commits.</a:t>
            </a:r>
            <a:endParaRPr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3799" y="233660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8340822" y="2908101"/>
            <a:ext cx="306710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Email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8413849" y="3441501"/>
            <a:ext cx="2921049" cy="1245691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8556724" y="3584376"/>
            <a:ext cx="2635299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git config --global user.email "you@example.com"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8413849" y="3441501"/>
            <a:ext cx="47625" cy="1245691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8413849" y="4915792"/>
            <a:ext cx="292104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Links to your GitHub.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 Step 1: Configuration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1981200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Initialize Repository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1500" y="2428875"/>
            <a:ext cx="5286375" cy="12382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714375" y="2571750"/>
            <a:ext cx="5000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Calculator </a:t>
            </a:r>
            <a:endParaRPr lang="en-US" sz="2400" b="0" i="0" u="none" strike="noStrike" cap="none" dirty="0" smtClean="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 smtClean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-US" sz="2400" b="0" i="0" u="none" strike="noStrike" cap="none" dirty="0" smtClean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Calculator </a:t>
            </a:r>
            <a:endParaRPr lang="en-US" sz="2400" b="0" i="0" u="none" strike="noStrike" cap="none" dirty="0" smtClean="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 smtClean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-US" sz="2400" b="0" i="0" u="none" strike="noStrike" cap="none" dirty="0" smtClean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init</a:t>
            </a:r>
            <a:endParaRPr sz="2400"/>
          </a:p>
        </p:txBody>
      </p:sp>
      <p:sp>
        <p:nvSpPr>
          <p:cNvPr id="160" name="Google Shape;160;p18"/>
          <p:cNvSpPr/>
          <p:nvPr/>
        </p:nvSpPr>
        <p:spPr>
          <a:xfrm>
            <a:off x="571500" y="2428875"/>
            <a:ext cx="47625" cy="12382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3857625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Create &amp; Stage File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4305300"/>
            <a:ext cx="5286375" cy="12382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714375" y="4448175"/>
            <a:ext cx="5000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Create calculator.py </a:t>
            </a:r>
            <a:endParaRPr lang="en-US" sz="2400" b="0" i="0" u="none" strike="noStrike" cap="none" dirty="0" smtClean="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 smtClean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-US" sz="2400" b="0" i="0" u="none" strike="noStrike" cap="none" dirty="0" smtClean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add calculator.py</a:t>
            </a:r>
            <a:endParaRPr sz="2400"/>
          </a:p>
        </p:txBody>
      </p:sp>
      <p:sp>
        <p:nvSpPr>
          <p:cNvPr id="164" name="Google Shape;164;p18"/>
          <p:cNvSpPr/>
          <p:nvPr/>
        </p:nvSpPr>
        <p:spPr>
          <a:xfrm>
            <a:off x="571500" y="4305300"/>
            <a:ext cx="47625" cy="12382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6343456" y="2042988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Explanation</a:t>
            </a:r>
            <a:endParaRPr sz="2400"/>
          </a:p>
        </p:txBody>
      </p:sp>
      <p:sp>
        <p:nvSpPr>
          <p:cNvPr id="166" name="Google Shape;166;p18"/>
          <p:cNvSpPr txBox="1"/>
          <p:nvPr/>
        </p:nvSpPr>
        <p:spPr>
          <a:xfrm>
            <a:off x="6250150" y="2716347"/>
            <a:ext cx="528637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</a:t>
            </a:r>
            <a:r>
              <a:rPr lang="en-US" sz="2400" b="1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init: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Turns the current folder into a </a:t>
            </a:r>
            <a:r>
              <a:rPr lang="en-US" sz="24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repository.</a:t>
            </a:r>
            <a:endParaRPr sz="2400"/>
          </a:p>
        </p:txBody>
      </p:sp>
      <p:sp>
        <p:nvSpPr>
          <p:cNvPr id="167" name="Google Shape;167;p18"/>
          <p:cNvSpPr txBox="1"/>
          <p:nvPr/>
        </p:nvSpPr>
        <p:spPr>
          <a:xfrm>
            <a:off x="6334125" y="3983384"/>
            <a:ext cx="528637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add:</a:t>
            </a:r>
            <a:r>
              <a:rPr lang="en-US" sz="24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Moves the file from the "Working Directory" to the "Staging Area". It is now ready to be saved.</a:t>
            </a:r>
            <a:endParaRPr sz="2400"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 Step 2: Init &amp; Add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2100262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2547937"/>
            <a:ext cx="5286375" cy="12382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714375" y="2690812"/>
            <a:ext cx="5000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commit -m "Initial commit: Basic calculator"</a:t>
            </a:r>
            <a:endParaRPr sz="2400"/>
          </a:p>
        </p:txBody>
      </p:sp>
      <p:sp>
        <p:nvSpPr>
          <p:cNvPr id="178" name="Google Shape;178;p19"/>
          <p:cNvSpPr/>
          <p:nvPr/>
        </p:nvSpPr>
        <p:spPr>
          <a:xfrm>
            <a:off x="571500" y="2547937"/>
            <a:ext cx="47625" cy="12382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3976687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Checking Status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71500" y="4424362"/>
            <a:ext cx="5286375" cy="1000125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714375" y="4567237"/>
            <a:ext cx="5000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git status git log</a:t>
            </a:r>
            <a:endParaRPr sz="2400"/>
          </a:p>
        </p:txBody>
      </p:sp>
      <p:sp>
        <p:nvSpPr>
          <p:cNvPr id="182" name="Google Shape;182;p19"/>
          <p:cNvSpPr/>
          <p:nvPr/>
        </p:nvSpPr>
        <p:spPr>
          <a:xfrm>
            <a:off x="571500" y="4424362"/>
            <a:ext cx="47625" cy="1000125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6287472" y="2078941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Explanation</a:t>
            </a:r>
            <a:endParaRPr sz="2400"/>
          </a:p>
        </p:txBody>
      </p:sp>
      <p:sp>
        <p:nvSpPr>
          <p:cNvPr id="184" name="Google Shape;184;p19"/>
          <p:cNvSpPr txBox="1"/>
          <p:nvPr/>
        </p:nvSpPr>
        <p:spPr>
          <a:xfrm>
            <a:off x="6250149" y="2649663"/>
            <a:ext cx="528637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</a:t>
            </a:r>
            <a:r>
              <a:rPr lang="en-US" sz="2400" b="1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commit: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Takes a snapshot of the Staging Area and saves it to the Repository.</a:t>
            </a:r>
            <a:endParaRPr sz="2400"/>
          </a:p>
        </p:txBody>
      </p:sp>
      <p:sp>
        <p:nvSpPr>
          <p:cNvPr id="185" name="Google Shape;185;p19"/>
          <p:cNvSpPr txBox="1"/>
          <p:nvPr/>
        </p:nvSpPr>
        <p:spPr>
          <a:xfrm>
            <a:off x="6259480" y="4376640"/>
            <a:ext cx="528637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-m "message":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Always include a clear message explaining what changed. This creates the project history.</a:t>
            </a:r>
            <a:endParaRPr sz="2400"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 Step 3: Committing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14500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71500" y="1532711"/>
            <a:ext cx="5600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</a:t>
            </a:r>
            <a:r>
              <a:rPr lang="en-US" sz="2800" b="1" i="0" u="none" strike="noStrike" cap="none" dirty="0" err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8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2800"/>
          </a:p>
        </p:txBody>
      </p:sp>
      <p:sp>
        <p:nvSpPr>
          <p:cNvPr id="195" name="Google Shape;195;p20"/>
          <p:cNvSpPr txBox="1"/>
          <p:nvPr/>
        </p:nvSpPr>
        <p:spPr>
          <a:xfrm>
            <a:off x="506186" y="2010128"/>
            <a:ext cx="53340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hosting service for </a:t>
            </a:r>
            <a:r>
              <a:rPr lang="en-US" sz="24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repositories. It acts as a "Remote" backup and a collaboration hub.</a:t>
            </a:r>
            <a:endParaRPr sz="2400"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3857625"/>
            <a:ext cx="5600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4391025"/>
            <a:ext cx="53340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new repository on GitHub.com named "Student-Calculator". Do not initialize with README.</a:t>
            </a:r>
            <a:endParaRPr sz="2400"/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43291" y="1819275"/>
            <a:ext cx="3820417" cy="407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 Step 4: GitHub Integration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8904" y="1402101"/>
            <a:ext cx="1160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and Push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2080727"/>
            <a:ext cx="11049000" cy="182839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74416" y="2132608"/>
            <a:ext cx="107632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remote add origin https://github.com/username/Student-Calculator.git </a:t>
            </a:r>
            <a:endParaRPr lang="en-US" sz="2400" b="0" i="0" u="none" strike="noStrike" cap="none" dirty="0" smtClean="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 smtClean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-US" sz="2400" b="0" i="0" u="none" strike="noStrike" cap="none" dirty="0" smtClean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branch -M main </a:t>
            </a:r>
            <a:endParaRPr lang="en-US" sz="2400" b="0" i="0" u="none" strike="noStrike" cap="none" dirty="0" smtClean="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 smtClean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-US" sz="2400" b="0" i="0" u="none" strike="noStrike" cap="none" dirty="0" smtClean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push -u origin main</a:t>
            </a:r>
            <a:endParaRPr sz="2400"/>
          </a:p>
        </p:txBody>
      </p:sp>
      <p:sp>
        <p:nvSpPr>
          <p:cNvPr id="209" name="Google Shape;209;p21"/>
          <p:cNvSpPr/>
          <p:nvPr/>
        </p:nvSpPr>
        <p:spPr>
          <a:xfrm>
            <a:off x="571500" y="2670869"/>
            <a:ext cx="47625" cy="12382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71500" y="4099619"/>
            <a:ext cx="1160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Explanation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85800" y="4554914"/>
            <a:ext cx="76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762000" y="4556819"/>
            <a:ext cx="108585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add origin: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Tells your local </a:t>
            </a:r>
            <a:r>
              <a:rPr lang="en-US" sz="24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 the </a:t>
            </a:r>
            <a:r>
              <a:rPr lang="en-US" sz="24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 is.</a:t>
            </a:r>
            <a:endParaRPr sz="2400"/>
          </a:p>
        </p:txBody>
      </p:sp>
      <p:sp>
        <p:nvSpPr>
          <p:cNvPr id="213" name="Google Shape;213;p21"/>
          <p:cNvSpPr txBox="1"/>
          <p:nvPr/>
        </p:nvSpPr>
        <p:spPr>
          <a:xfrm>
            <a:off x="667139" y="5801542"/>
            <a:ext cx="76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752669" y="5626165"/>
            <a:ext cx="108585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push: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Uploads your local commits to the </a:t>
            </a:r>
            <a:r>
              <a:rPr lang="en-US" sz="24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server.</a:t>
            </a:r>
            <a:endParaRPr sz="2400"/>
          </a:p>
        </p:txBody>
      </p:sp>
      <p:sp>
        <p:nvSpPr>
          <p:cNvPr id="215" name="Google Shape;215;p2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 Step 5: Connecting Remote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14500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487525" y="1377695"/>
            <a:ext cx="5600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440871" y="2023062"/>
            <a:ext cx="5698672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Branches allow you to work on new features (e.g., adding a "Multiply" function) without affecting the main working code.</a:t>
            </a:r>
            <a:endParaRPr sz="2400"/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3761333"/>
            <a:ext cx="5600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</a:t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571500" y="4209008"/>
            <a:ext cx="5334000" cy="12382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714374" y="4351883"/>
            <a:ext cx="538784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branch feature-multiply </a:t>
            </a:r>
            <a:r>
              <a:rPr lang="en-US" sz="2400" b="0" i="0" u="none" strike="noStrike" cap="none" dirty="0" err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checkout feature-multiply</a:t>
            </a:r>
            <a:endParaRPr sz="2400"/>
          </a:p>
        </p:txBody>
      </p:sp>
      <p:sp>
        <p:nvSpPr>
          <p:cNvPr id="228" name="Google Shape;228;p22"/>
          <p:cNvSpPr/>
          <p:nvPr/>
        </p:nvSpPr>
        <p:spPr>
          <a:xfrm>
            <a:off x="571500" y="4209008"/>
            <a:ext cx="47625" cy="12382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0212" y="1446245"/>
            <a:ext cx="5458408" cy="444958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 Step 6: Branching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14500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552839" y="1630992"/>
            <a:ext cx="5600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515516" y="2285690"/>
            <a:ext cx="5334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the feature is complete and tested, we merge it back into the main branch.</a:t>
            </a:r>
            <a:endParaRPr sz="2400"/>
          </a:p>
        </p:txBody>
      </p:sp>
      <p:sp>
        <p:nvSpPr>
          <p:cNvPr id="240" name="Google Shape;240;p23"/>
          <p:cNvSpPr txBox="1"/>
          <p:nvPr/>
        </p:nvSpPr>
        <p:spPr>
          <a:xfrm>
            <a:off x="571500" y="3601342"/>
            <a:ext cx="5600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571500" y="4049017"/>
            <a:ext cx="5334000" cy="12382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714375" y="4191892"/>
            <a:ext cx="5048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checkout main </a:t>
            </a:r>
            <a:r>
              <a:rPr lang="en-US" sz="2400" b="0" i="0" u="none" strike="noStrike" cap="none" dirty="0" err="1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merge feature-multiply</a:t>
            </a:r>
            <a:endParaRPr sz="2400"/>
          </a:p>
        </p:txBody>
      </p:sp>
      <p:sp>
        <p:nvSpPr>
          <p:cNvPr id="243" name="Google Shape;243;p23"/>
          <p:cNvSpPr/>
          <p:nvPr/>
        </p:nvSpPr>
        <p:spPr>
          <a:xfrm>
            <a:off x="571500" y="4049017"/>
            <a:ext cx="47625" cy="12382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0166" y="1819275"/>
            <a:ext cx="4766667" cy="407655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 Step 7: Merging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7541"/>
            <a:ext cx="2547937" cy="2760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477541"/>
            <a:ext cx="2547937" cy="2760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477541"/>
            <a:ext cx="2547937" cy="2760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477541"/>
            <a:ext cx="2547937" cy="276016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807839" y="2810916"/>
            <a:ext cx="207525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857250" y="3344316"/>
            <a:ext cx="197643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init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857250" y="3892897"/>
            <a:ext cx="197643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clone [url]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857250" y="4441477"/>
            <a:ext cx="197643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config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3641526" y="2810916"/>
            <a:ext cx="207525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3690937" y="3344316"/>
            <a:ext cx="197643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status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3690937" y="3892897"/>
            <a:ext cx="197643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add [file]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3690937" y="4441477"/>
            <a:ext cx="197643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commit -m "msg"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6475214" y="2810916"/>
            <a:ext cx="207525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6524625" y="3344316"/>
            <a:ext cx="197643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push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6524625" y="3892897"/>
            <a:ext cx="197643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pull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6524625" y="4441477"/>
            <a:ext cx="197643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fetch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9308901" y="2810916"/>
            <a:ext cx="207525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Branching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9358312" y="3344316"/>
            <a:ext cx="197643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branch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9358312" y="3892897"/>
            <a:ext cx="197643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checkout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9358312" y="4441477"/>
            <a:ext cx="197643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merge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 Cheatsheet</a:t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295275" y="1203870"/>
            <a:ext cx="1160145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50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571500" y="237544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Demonstration Next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550</Words>
  <PresentationFormat>Custom</PresentationFormat>
  <Paragraphs>90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Tirupati</cp:lastModifiedBy>
  <cp:revision>2</cp:revision>
  <dcterms:modified xsi:type="dcterms:W3CDTF">2026-02-06T05:15:28Z</dcterms:modified>
</cp:coreProperties>
</file>